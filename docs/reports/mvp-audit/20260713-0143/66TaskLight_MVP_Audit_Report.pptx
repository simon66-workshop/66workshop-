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83c079a4724f8c" /><Relationship Type="http://schemas.openxmlformats.org/officeDocument/2006/relationships/extended-properties" Target="/docProps/app.xml" Id="R99b9530ab0754595" /><Relationship Type="http://schemas.openxmlformats.org/officeDocument/2006/relationships/officeDocument" Target="/ppt/presentation.xml" Id="R2379fad748f4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3a7b7954bd4eb0"/>
  </p:sldMasterIdLst>
  <p:notesMasterIdLst>
    <p:notesMasterId xmlns:r="http://schemas.openxmlformats.org/officeDocument/2006/relationships" r:id="R280d4126addf43f6"/>
  </p:notesMasterIdLst>
  <p:sldIdLst>
    <p:sldId xmlns:r="http://schemas.openxmlformats.org/officeDocument/2006/relationships" id="256" r:id="R186cd38f0c424ebf"/>
    <p:sldId xmlns:r="http://schemas.openxmlformats.org/officeDocument/2006/relationships" id="257" r:id="R9a3016a11b4a4e8a"/>
    <p:sldId xmlns:r="http://schemas.openxmlformats.org/officeDocument/2006/relationships" id="258" r:id="Rdf47cf67f4b64877"/>
    <p:sldId xmlns:r="http://schemas.openxmlformats.org/officeDocument/2006/relationships" id="259" r:id="R473a4dd091e44b4f"/>
    <p:sldId xmlns:r="http://schemas.openxmlformats.org/officeDocument/2006/relationships" id="260" r:id="R6f18b7b4c4db4564"/>
    <p:sldId xmlns:r="http://schemas.openxmlformats.org/officeDocument/2006/relationships" id="261" r:id="R65e822d2171a4234"/>
    <p:sldId xmlns:r="http://schemas.openxmlformats.org/officeDocument/2006/relationships" id="262" r:id="R6f7e241082ec4d99"/>
    <p:sldId xmlns:r="http://schemas.openxmlformats.org/officeDocument/2006/relationships" id="263" r:id="R9aa76665549e424e"/>
    <p:sldId xmlns:r="http://schemas.openxmlformats.org/officeDocument/2006/relationships" id="264" r:id="Rb0a2f8ee61c446e8"/>
    <p:sldId xmlns:r="http://schemas.openxmlformats.org/officeDocument/2006/relationships" id="265" r:id="Ra0619dc2ab424e52"/>
    <p:sldId xmlns:r="http://schemas.openxmlformats.org/officeDocument/2006/relationships" id="266" r:id="R750774cabf0d4ae4"/>
    <p:sldId xmlns:r="http://schemas.openxmlformats.org/officeDocument/2006/relationships" id="267" r:id="R3413c4e6051c495d"/>
    <p:sldId xmlns:r="http://schemas.openxmlformats.org/officeDocument/2006/relationships" id="268" r:id="R120614619d1a4205"/>
    <p:sldId xmlns:r="http://schemas.openxmlformats.org/officeDocument/2006/relationships" id="269" r:id="Rb13fa06650ca42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2eb2d8688a4641" /><Relationship Type="http://schemas.openxmlformats.org/officeDocument/2006/relationships/slideMaster" Target="/ppt/slideMasters/slideMaster1.xml" Id="R983a7b7954bd4eb0" /><Relationship Type="http://schemas.openxmlformats.org/officeDocument/2006/relationships/notesMaster" Target="/ppt/notesMasters/notesMaster1.xml" Id="R280d4126addf43f6" /><Relationship Type="http://schemas.openxmlformats.org/officeDocument/2006/relationships/presProps" Target="/ppt/presProps.xml" Id="R8fe647b79e7c47ae" /><Relationship Type="http://schemas.openxmlformats.org/officeDocument/2006/relationships/tableStyles" Target="/ppt/tableStyles.xml" Id="Refac8fbf89ef4db6" /><Relationship Type="http://schemas.openxmlformats.org/officeDocument/2006/relationships/slide" Target="/ppt/slides/slide1.xml" Id="R186cd38f0c424ebf" /><Relationship Type="http://schemas.openxmlformats.org/officeDocument/2006/relationships/slide" Target="/ppt/slides/slide2.xml" Id="R9a3016a11b4a4e8a" /><Relationship Type="http://schemas.openxmlformats.org/officeDocument/2006/relationships/slide" Target="/ppt/slides/slide3.xml" Id="Rdf47cf67f4b64877" /><Relationship Type="http://schemas.openxmlformats.org/officeDocument/2006/relationships/slide" Target="/ppt/slides/slide4.xml" Id="R473a4dd091e44b4f" /><Relationship Type="http://schemas.openxmlformats.org/officeDocument/2006/relationships/slide" Target="/ppt/slides/slide5.xml" Id="R6f18b7b4c4db4564" /><Relationship Type="http://schemas.openxmlformats.org/officeDocument/2006/relationships/slide" Target="/ppt/slides/slide6.xml" Id="R65e822d2171a4234" /><Relationship Type="http://schemas.openxmlformats.org/officeDocument/2006/relationships/slide" Target="/ppt/slides/slide7.xml" Id="R6f7e241082ec4d99" /><Relationship Type="http://schemas.openxmlformats.org/officeDocument/2006/relationships/slide" Target="/ppt/slides/slide8.xml" Id="R9aa76665549e424e" /><Relationship Type="http://schemas.openxmlformats.org/officeDocument/2006/relationships/slide" Target="/ppt/slides/slide9.xml" Id="Rb0a2f8ee61c446e8" /><Relationship Type="http://schemas.openxmlformats.org/officeDocument/2006/relationships/slide" Target="/ppt/slides/slide10.xml" Id="Ra0619dc2ab424e52" /><Relationship Type="http://schemas.openxmlformats.org/officeDocument/2006/relationships/slide" Target="/ppt/slides/slide11.xml" Id="R750774cabf0d4ae4" /><Relationship Type="http://schemas.openxmlformats.org/officeDocument/2006/relationships/slide" Target="/ppt/slides/slide12.xml" Id="R3413c4e6051c495d" /><Relationship Type="http://schemas.openxmlformats.org/officeDocument/2006/relationships/slide" Target="/ppt/slides/slide13.xml" Id="R120614619d1a4205" /><Relationship Type="http://schemas.openxmlformats.org/officeDocument/2006/relationships/slide" Target="/ppt/slides/slide14.xml" Id="Rb13fa06650ca42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2922cdce4946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4ca256eb8845c0" /><Relationship Type="http://schemas.openxmlformats.org/officeDocument/2006/relationships/notesMaster" Target="/ppt/notesMasters/notesMaster1.xml" Id="Rb0b675a3c65f4f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bead82e9af4107" /><Relationship Type="http://schemas.openxmlformats.org/officeDocument/2006/relationships/notesMaster" Target="/ppt/notesMasters/notesMaster1.xml" Id="R4d4f33749d8c48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7ce4eca49e4084" /><Relationship Type="http://schemas.openxmlformats.org/officeDocument/2006/relationships/notesMaster" Target="/ppt/notesMasters/notesMaster1.xml" Id="Rb0d8a033045d46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97ba63282740d4" /><Relationship Type="http://schemas.openxmlformats.org/officeDocument/2006/relationships/notesMaster" Target="/ppt/notesMasters/notesMaster1.xml" Id="R9b759e30e7b34a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e98cac18c84615" /><Relationship Type="http://schemas.openxmlformats.org/officeDocument/2006/relationships/notesMaster" Target="/ppt/notesMasters/notesMaster1.xml" Id="R3a40300311854a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e2cbbe49d2491d" /><Relationship Type="http://schemas.openxmlformats.org/officeDocument/2006/relationships/notesMaster" Target="/ppt/notesMasters/notesMaster1.xml" Id="Rdac824d8cd1547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9b4b39db184c9d" /><Relationship Type="http://schemas.openxmlformats.org/officeDocument/2006/relationships/notesMaster" Target="/ppt/notesMasters/notesMaster1.xml" Id="Rf01b360d35c747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4dc9e3169c408a" /><Relationship Type="http://schemas.openxmlformats.org/officeDocument/2006/relationships/notesMaster" Target="/ppt/notesMasters/notesMaster1.xml" Id="R4d466fa35de141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d8fa803c0047a3" /><Relationship Type="http://schemas.openxmlformats.org/officeDocument/2006/relationships/notesMaster" Target="/ppt/notesMasters/notesMaster1.xml" Id="R64c267110a4a4a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4ff68ca8054e5f" /><Relationship Type="http://schemas.openxmlformats.org/officeDocument/2006/relationships/notesMaster" Target="/ppt/notesMasters/notesMaster1.xml" Id="R19b2d545cbe942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f475e068704c1f" /><Relationship Type="http://schemas.openxmlformats.org/officeDocument/2006/relationships/notesMaster" Target="/ppt/notesMasters/notesMaster1.xml" Id="Rb77673e4ca8140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60e55dfe6e48c0" /><Relationship Type="http://schemas.openxmlformats.org/officeDocument/2006/relationships/notesMaster" Target="/ppt/notesMasters/notesMaster1.xml" Id="R9ba2d358f1ad4d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a4bff3cf1149b7" /><Relationship Type="http://schemas.openxmlformats.org/officeDocument/2006/relationships/notesMaster" Target="/ppt/notesMasters/notesMaster1.xml" Id="Rc529ee3ee16c48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e5cdb7ecf94283" /><Relationship Type="http://schemas.openxmlformats.org/officeDocument/2006/relationships/notesMaster" Target="/ppt/notesMasters/notesMaster1.xml" Id="Re8a752e8e4e140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d47331c8544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91b6ebdadb4984" /><Relationship Type="http://schemas.openxmlformats.org/officeDocument/2006/relationships/slideLayout" Target="/ppt/slideLayouts/slideLayout1.xml" Id="Rc68da6b0ac7a4b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8da6b0ac7a4b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e2455860a4474" /><Relationship Type="http://schemas.openxmlformats.org/officeDocument/2006/relationships/notesSlide" Target="/ppt/notesSlides/notesSlide1.xml" Id="Rb81c41891e9241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a791885fc407e" /><Relationship Type="http://schemas.openxmlformats.org/officeDocument/2006/relationships/notesSlide" Target="/ppt/notesSlides/notesSlide2.xml" Id="R4b9d1579f45f40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33878204149b6" /><Relationship Type="http://schemas.openxmlformats.org/officeDocument/2006/relationships/notesSlide" Target="/ppt/notesSlides/notesSlide3.xml" Id="R6d6b75c0d30f4e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c7c6ae9a2448e" /><Relationship Type="http://schemas.openxmlformats.org/officeDocument/2006/relationships/notesSlide" Target="/ppt/notesSlides/notesSlide4.xml" Id="R97920f66a44344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b064470044a7b" /><Relationship Type="http://schemas.openxmlformats.org/officeDocument/2006/relationships/notesSlide" Target="/ppt/notesSlides/notesSlide5.xml" Id="R256649bb4fc446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7e9fe95b84f64" /><Relationship Type="http://schemas.openxmlformats.org/officeDocument/2006/relationships/notesSlide" Target="/ppt/notesSlides/notesSlide6.xml" Id="Rcdcced71201344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2f8cdf8e94536" /><Relationship Type="http://schemas.openxmlformats.org/officeDocument/2006/relationships/notesSlide" Target="/ppt/notesSlides/notesSlide7.xml" Id="R4c4a3120e7fb40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ec58354fb4b71" /><Relationship Type="http://schemas.openxmlformats.org/officeDocument/2006/relationships/notesSlide" Target="/ppt/notesSlides/notesSlide8.xml" Id="R1bbe7315a7ab40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a49bb69834bb5" /><Relationship Type="http://schemas.openxmlformats.org/officeDocument/2006/relationships/notesSlide" Target="/ppt/notesSlides/notesSlide9.xml" Id="R2dabf8fdb3ea4a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f7a657f9843c5" /><Relationship Type="http://schemas.openxmlformats.org/officeDocument/2006/relationships/notesSlide" Target="/ppt/notesSlides/notesSlide10.xml" Id="R891f4056eaf14a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c145243b44f89" /><Relationship Type="http://schemas.openxmlformats.org/officeDocument/2006/relationships/notesSlide" Target="/ppt/notesSlides/notesSlide11.xml" Id="Re401726b887445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0f794c4a8498d" /><Relationship Type="http://schemas.openxmlformats.org/officeDocument/2006/relationships/notesSlide" Target="/ppt/notesSlides/notesSlide12.xml" Id="R7cf4b3ad65de48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aa4421c2c4a13" /><Relationship Type="http://schemas.openxmlformats.org/officeDocument/2006/relationships/notesSlide" Target="/ppt/notesSlides/notesSlide13.xml" Id="Rca77d060729349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6f078ae9746f8" /><Relationship Type="http://schemas.openxmlformats.org/officeDocument/2006/relationships/notesSlide" Target="/ppt/notesSlides/notesSlide14.xml" Id="Rd4f5dcee10ea41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42DD33-9623-431D-8BCD-67A19D32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D89C2-0F61-4CC0-9A05-7275FEE8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EDBFF"/>
                </a:solidFill>
              </a:defRPr>
            </a:pPr>
            <a:r>
              <a:rPr sz="1050" b="1">
                <a:solidFill>
                  <a:srgbClr val="BEDBFF"/>
                </a:solidFill>
              </a:rPr>
              <a:t>66TASKLIGHT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2AC0E-8630-4FCB-BCD0-4B4A9C1D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525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MVP 验收复盘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ECA61-F05C-4DEC-8410-0C1882CA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2E8F0"/>
                </a:solidFill>
              </a:defRPr>
            </a:pPr>
            <a:r>
              <a:rPr sz="1800" b="0">
                <a:solidFill>
                  <a:srgbClr val="E2E8F0"/>
                </a:solidFill>
              </a:rPr>
              <a:t>M7.1 Reliability Closure + MVP Re-Audit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41EF6-DC47-4D0E-B3A8-CE00AC7F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2514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33BB8-259A-4D79-8CBD-59D5475B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17100"/>
                </a:solidFill>
              </a:defRPr>
            </a:pPr>
            <a:r>
              <a:rPr sz="975" b="1">
                <a:solidFill>
                  <a:srgbClr val="E17100"/>
                </a:solidFill>
              </a:rPr>
              <a:t>NEEDS_HUMAN_REVIEW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911D9-8163-45E0-BD0E-F671D5DD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Score 90 /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59B43-E7AE-46F9-A91A-026B1AC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2E8F0"/>
                </a:solidFill>
              </a:defRPr>
            </a:pPr>
            <a:r>
              <a:rPr sz="1275" b="0">
                <a:solidFill>
                  <a:srgbClr val="E2E8F0"/>
                </a:solidFill>
              </a:rPr>
              <a:t>P0 已清除 · check_all 连续 3 次通过 · 真实 Bridge 与当前渲染长尾仍需人审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22479-15D2-4543-9427-67E7208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0A1B9"/>
                </a:solidFill>
              </a:defRPr>
            </a:pPr>
            <a:r>
              <a:rPr sz="1050" b="0">
                <a:solidFill>
                  <a:srgbClr val="90A1B9"/>
                </a:solidFill>
              </a:rPr>
              <a:t>2026-07-13 · Independent reliability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BEFF4-F0FE-48F1-A651-535D070F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7680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9F07D9-3DE0-4705-8EA6-6CA2F0D9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01 ·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5773B-C9B4-4462-A6B0-563AC86E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MVP 的核心目标仍然是可信，不是功能数量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96DA8-0AEC-4DC0-8406-D65007CD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验收重点：状态灯准确、主路径稳定、解释得清楚，并且不越过安全边界。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39BB9-2C5C-4360-BAC8-3EF19D43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185C7-8F0D-4EF0-A8E3-C0DBBFE7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状态准确性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13313-C1EF-47A6-9CC8-3C2B0BB1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5DFC"/>
                </a:solidFill>
              </a:defRPr>
            </a:pPr>
            <a:r>
              <a:rPr sz="2100" b="1">
                <a:solidFill>
                  <a:srgbClr val="155DFC"/>
                </a:solidFill>
              </a:rPr>
              <a:t>RUNNING ≠ 进程存在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011C7-4453-4AAC-9E07-79301B9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Hook / projector / arbiter 共同证据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18DC8-F6E6-475B-8431-A13104B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1F0D8-E0CE-4DEF-A340-6327636D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主路径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D6B72-F067-44EF-873C-1ED6C2DC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ui_state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F43BC-16E7-4C92-89C0-C18AFD19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唯一 UI read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3D089-5DF7-414C-81DD-FE3B2149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574DE-C8E4-4F9A-97DC-56701A8E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硬门禁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5E921-AF08-4FFD-8EF5-F740D051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C003F"/>
                </a:solidFill>
              </a:defRPr>
            </a:pPr>
            <a:r>
              <a:rPr sz="2100" b="1">
                <a:solidFill>
                  <a:srgbClr val="EC003F"/>
                </a:solidFill>
              </a:rPr>
              <a:t>check_all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450EC-939F-4385-856D-232207C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失败即不能自称通过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54FC4-A3B2-4D5A-A645-6A67DAF9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5C129-43C7-44AE-A075-B6461574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安全边界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87538-FDEE-4E21-BB2A-F296729F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17100"/>
                </a:solidFill>
              </a:defRPr>
            </a:pPr>
            <a:r>
              <a:rPr sz="2100" b="1">
                <a:solidFill>
                  <a:srgbClr val="E17100"/>
                </a:solidFill>
              </a:rPr>
              <a:t>display-only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8895B-4BD2-4329-9B09-928A0D52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quota 不改变主灯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9F8A3-E000-4B5A-A232-9C094048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47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4FB33-D2DD-4C00-8BCB-2B0AE505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本轮不做什么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F1C0B-E28F-4AF9-82E2-AECEBB5B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不扩展新产品能力，不改变 Stop → done_unverified、verify-only-green、Turn Runtime Arbiter 或 quota 数据源。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704CF-C12E-41C0-9B9C-C1EC64B6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D7908-0211-4188-ACB6-81EE0D7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7452A-0600-4ADB-AA1C-C341A0AE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67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BC18A-E0D8-4123-94D0-332C623E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95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验收问题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C1DA7-DB96-4EE1-82F9-918698C3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672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82E6E2-0B91-4641-A5D2-3476E6D1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958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本轮证据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E7F6AB-0AD8-45AB-9BFA-D9907E98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4B61B1-6C6D-4D2C-B056-1A9F960D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96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可靠性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43F52A-B0C4-418E-B83D-A9CABFA7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911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8B41FF-57DA-48A0-BF83-1C115C7D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196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长时间运行是否会积压？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70DC0E-4AE3-4B0E-9A61-D78B3452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91100"/>
            <a:ext cx="514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708B79-43B6-4FC9-AB02-43A5828A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196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retention / storage / bridge timeline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76B97D-7BA9-4D64-B52F-FAF3AEBD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A26745-1E8C-4C00-A906-97AB19E1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性能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38837B-1176-4830-AAA2-0548C8D1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530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3AD792-722B-4E0C-9F66-D5D2E038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3816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卡顿来自哪一层？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30103F-0887-4FB7-9A49-EDD6FC90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53050"/>
            <a:ext cx="514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41E421-C634-4690-A87C-B581FC78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81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stage telemetry + large-state fixture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4A9289-4BB6-4948-8055-425A354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3B7006-DC64-472D-9CE5-B4750347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运行态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B2D33A-2A21-4A4D-81E5-F1745F49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7150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315481-4BEC-440F-BEF9-C7EB7731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7435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真实 LaunchAgent 是否健康？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6D8767-CD20-46B8-9D68-825B1920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715000"/>
            <a:ext cx="514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049DCF-36D9-4AFA-B5DE-FBBD206C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435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machine-readable health + runtime observation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C5F3BB-971C-497C-B278-64C207E7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3E8688-8254-49C6-A5EA-5BF2BF3C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2EDD55-B5E1-4A29-8CB7-E98AEC6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78100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2F7E6-ABB3-4656-B3E2-F185DA07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02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AE523-3499-4C7D-8090-3DE0E8C5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状态链路被拆成可验证的五个环节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AF028-608A-4746-8AD5-02D15618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每一层有独立证据；弱信号不能越权点亮主灯。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3213E-FC08-4CAE-A5FB-DF806163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3454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84F6A-1541-4FAE-B883-BB6E5708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8440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5DFC"/>
                </a:solidFill>
              </a:defRPr>
            </a:pPr>
            <a:r>
              <a:rPr sz="1425" b="1">
                <a:solidFill>
                  <a:srgbClr val="155DFC"/>
                </a:solidFill>
              </a:rPr>
              <a:t>Codex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A3937-0AD3-481A-9B12-1768CDD3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8440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5DFC"/>
                </a:solidFill>
              </a:defRPr>
            </a:pPr>
            <a:r>
              <a:rPr sz="975" b="0">
                <a:solidFill>
                  <a:srgbClr val="155DFC"/>
                </a:solidFill>
              </a:rPr>
              <a:t>turn / item / stop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639AB-D498-478B-B601-319B12FD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815" y="24479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556C"/>
                </a:solidFill>
              </a:defRPr>
            </a:pPr>
            <a:r>
              <a:rPr sz="1650" b="1">
                <a:solidFill>
                  <a:srgbClr val="45556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B392D-4E52-4292-9760-59852423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2209800"/>
            <a:ext cx="203454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40CB6-098B-4515-A4C8-9BBD020C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324100"/>
            <a:ext cx="18440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9966"/>
                </a:solidFill>
              </a:defRPr>
            </a:pPr>
            <a:r>
              <a:rPr sz="1425" b="1">
                <a:solidFill>
                  <a:srgbClr val="009966"/>
                </a:solidFill>
              </a:rPr>
              <a:t>Hook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5240D-336D-49A4-9377-E1756A64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647950"/>
            <a:ext cx="18440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09966"/>
                </a:solidFill>
              </a:defRPr>
            </a:pPr>
            <a:r>
              <a:rPr sz="975" b="0">
                <a:solidFill>
                  <a:srgbClr val="009966"/>
                </a:solidFill>
              </a:rPr>
              <a:t>task projection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1C037-44BE-43FB-8166-1F786FD7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805" y="24479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556C"/>
                </a:solidFill>
              </a:defRPr>
            </a:pPr>
            <a:r>
              <a:rPr sz="1650" b="1">
                <a:solidFill>
                  <a:srgbClr val="45556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6B0AB-1D56-40C8-8DF9-60A5ABB3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2209800"/>
            <a:ext cx="203454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F5F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D46F4-9EF3-4E26-B34D-7B5F65B5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324100"/>
            <a:ext cx="18440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F22FE"/>
                </a:solidFill>
              </a:defRPr>
            </a:pPr>
            <a:r>
              <a:rPr sz="1425" b="1">
                <a:solidFill>
                  <a:srgbClr val="7F22FE"/>
                </a:solidFill>
              </a:rPr>
              <a:t>State Projector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12633-2466-4513-9AE2-8A356424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647950"/>
            <a:ext cx="18440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F22FE"/>
                </a:solidFill>
              </a:defRPr>
            </a:pPr>
            <a:r>
              <a:rPr sz="975" b="0">
                <a:solidFill>
                  <a:srgbClr val="7F22FE"/>
                </a:solidFill>
              </a:rPr>
              <a:t>ui_state.json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C5FCA-E420-4B87-9A1B-B6ED99F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795" y="24479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556C"/>
                </a:solidFill>
              </a:defRPr>
            </a:pPr>
            <a:r>
              <a:rPr sz="1650" b="1">
                <a:solidFill>
                  <a:srgbClr val="45556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893DC-CE8F-43F2-8410-22A52F80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2209800"/>
            <a:ext cx="203454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FB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644BF-EDA4-4798-B11C-3E1F4FEB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70" y="2324100"/>
            <a:ext cx="18440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17100"/>
                </a:solidFill>
              </a:defRPr>
            </a:pPr>
            <a:r>
              <a:rPr sz="1425" b="1">
                <a:solidFill>
                  <a:srgbClr val="E17100"/>
                </a:solidFill>
              </a:rPr>
              <a:t>Runtime Arbiter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749DE-51DD-4577-836F-2DE477D1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70" y="2647950"/>
            <a:ext cx="18440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E17100"/>
                </a:solidFill>
              </a:defRPr>
            </a:pPr>
            <a:r>
              <a:rPr sz="975" b="0">
                <a:solidFill>
                  <a:srgbClr val="E17100"/>
                </a:solidFill>
              </a:rPr>
              <a:t>evidence + freshness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B7564-D1B7-41BB-B7B1-575DA959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785" y="24479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556C"/>
                </a:solidFill>
              </a:defRPr>
            </a:pPr>
            <a:r>
              <a:rPr sz="1650" b="1">
                <a:solidFill>
                  <a:srgbClr val="45556C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DE906-E7F7-4A28-86A6-0FCBC1FC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710" y="2209800"/>
            <a:ext cx="203454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799C5-2C56-428D-BD8B-7B9B2D31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2324100"/>
            <a:ext cx="18440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LuckyCat / Radar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86F74-658A-4832-BC24-81EA938A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2647950"/>
            <a:ext cx="18440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20618"/>
                </a:solidFill>
              </a:defRPr>
            </a:pPr>
            <a:r>
              <a:rPr sz="975" b="0">
                <a:solidFill>
                  <a:srgbClr val="020618"/>
                </a:solidFill>
              </a:rPr>
              <a:t>read-only surfaces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55B34B-6196-4250-B7EF-1DB8C80D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47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9600A-AC01-4258-84BC-C80C6B75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本轮架构修复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7784A-C7E8-4C76-BEC1-A4C73AFD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active heartbeat/start/release 不再频繁扫描完整 task 目录；projector fallback 使用兼容快照并只增量覆盖最近 2,000 个 task。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B495D-32F2-4194-AE0E-63D77256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F3C0FB-6278-4F87-B88D-78FB6955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保护规则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47DA8-30AF-4BF4-BCA0-2E2DA56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58CDEC-457D-48B0-8C3E-BB29C0A2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815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触发条件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B96519-B5E3-4F7D-AF9A-2B7EBCD0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530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43698F-5BB9-4B21-BAEB-514E52CA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815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0F78E2-3938-44B2-94CA-809FB03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CFD52D-4E71-422F-9443-50A4B3B1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054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process-only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17F5A6-013C-4865-8815-D103DD79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768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FA2207-65B0-459C-9B45-2FF8EA80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054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只有观察进程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39B306-E1C3-4015-A9E0-9624D9C1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768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A1D455-179B-4BB7-8093-FD5D163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054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不点亮 RUNNING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5BF8CD-7AFC-4EE7-8CB7-3446F058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617F39-45EE-45BA-89F6-D8305B5F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quota isolation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E80C29-7410-4955-807C-560DE720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388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E0F189-9305-4628-9C4D-13554213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67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额度低或未知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4AFB1D-589B-4B5A-9A09-D80D358D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3880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E0443D-3688-4611-9969-F4D16BEF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673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只改变 quota 展示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066EF2-3A28-4818-8F43-E7395B43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3A1332-A068-4F84-A758-D7600D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293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Stop / verify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D62AC0-9ED5-42C2-9FD4-C82ED30A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007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3865E2-8634-417E-87F4-B22D0AAF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029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stop 后未验证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CFF250-FB39-4C87-9CB4-4B67148F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0007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99D075-0978-4F06-97A9-72CDA7C0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0293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done_unverified，不能直接 green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24C752-EC28-4450-BAC5-7F5AF445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01C21C-07CA-4BEE-A9DE-EE2D90BF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B7AD59-0321-4E77-84B5-8D1BF2C8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46462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EE3E79-5FBD-411D-B48B-6292F5FD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03 · PREVIOUS REJECTION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922E4-770B-4AA8-BE81-7BC1DDA6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上一轮 REJECT 的唯一硬门禁根因已被复现并修掉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1AD4F-0E79-4DE7-AA6F-5A1B201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P0 不是业务算法错误，而是 retention smoke 使用了固定历史日期。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60F29-F055-4577-89EC-97D475D1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59864-A90B-4030-82AA-0FD18CE9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C003F"/>
                </a:solidFill>
              </a:defRPr>
            </a:pPr>
            <a:r>
              <a:rPr sz="1500" b="1">
                <a:solidFill>
                  <a:srgbClr val="EC003F"/>
                </a:solidFill>
              </a:rPr>
              <a:t>旧路径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AA79D-A36A-4F54-8509-E922D796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C003F"/>
                </a:solidFill>
              </a:defRPr>
            </a:pPr>
            <a:r>
              <a:rPr sz="1800" b="1">
                <a:solidFill>
                  <a:srgbClr val="EC003F"/>
                </a:solidFill>
              </a:rPr>
              <a:t>固定 2026-07-10</a:t>
            </a:r>
          </a:p>
          <a:p xmlns:a="http://schemas.openxmlformats.org/drawingml/2006/main">
            <a:pPr>
              <a:defRPr sz="1800" b="1">
                <a:solidFill>
                  <a:srgbClr val="EC003F"/>
                </a:solidFill>
              </a:defRPr>
            </a:pPr>
            <a:r>
              <a:rPr sz="1800" b="1">
                <a:solidFill>
                  <a:srgbClr val="EC003F"/>
                </a:solidFill>
              </a:rPr>
              <a:t>↓</a:t>
            </a:r>
          </a:p>
          <a:p xmlns:a="http://schemas.openxmlformats.org/drawingml/2006/main">
            <a:pPr>
              <a:defRPr sz="1800" b="1">
                <a:solidFill>
                  <a:srgbClr val="EC003F"/>
                </a:solidFill>
              </a:defRPr>
            </a:pPr>
            <a:r>
              <a:rPr sz="1800" b="1">
                <a:solidFill>
                  <a:srgbClr val="EC003F"/>
                </a:solidFill>
              </a:rPr>
              <a:t>超过 retention</a:t>
            </a:r>
          </a:p>
          <a:p xmlns:a="http://schemas.openxmlformats.org/drawingml/2006/main">
            <a:pPr>
              <a:defRPr sz="1800" b="1">
                <a:solidFill>
                  <a:srgbClr val="EC003F"/>
                </a:solidFill>
              </a:defRPr>
            </a:pPr>
            <a:r>
              <a:rPr sz="1800" b="1">
                <a:solidFill>
                  <a:srgbClr val="EC003F"/>
                </a:solidFill>
              </a:rPr>
              <a:t>↓</a:t>
            </a:r>
          </a:p>
          <a:p xmlns:a="http://schemas.openxmlformats.org/drawingml/2006/main">
            <a:pPr>
              <a:defRPr sz="1800" b="1">
                <a:solidFill>
                  <a:srgbClr val="EC003F"/>
                </a:solidFill>
              </a:defRPr>
            </a:pPr>
            <a:r>
              <a:rPr sz="1800" b="1">
                <a:solidFill>
                  <a:srgbClr val="EC003F"/>
                </a:solidFill>
              </a:rPr>
              <a:t>fixture 被清除</a:t>
            </a:r>
          </a:p>
          <a:p xmlns:a="http://schemas.openxmlformats.org/drawingml/2006/main">
            <a:pPr>
              <a:defRPr sz="1800" b="1">
                <a:solidFill>
                  <a:srgbClr val="EC003F"/>
                </a:solidFill>
              </a:defRPr>
            </a:pPr>
            <a:r>
              <a:rPr sz="1800" b="1">
                <a:solidFill>
                  <a:srgbClr val="EC003F"/>
                </a:solidFill>
              </a:rPr>
              <a:t>↓</a:t>
            </a:r>
          </a:p>
          <a:p xmlns:a="http://schemas.openxmlformats.org/drawingml/2006/main">
            <a:pPr>
              <a:defRPr sz="1800" b="1">
                <a:solidFill>
                  <a:srgbClr val="EC003F"/>
                </a:solidFill>
              </a:defRPr>
            </a:pPr>
            <a:r>
              <a:rPr sz="1800" b="1">
                <a:solidFill>
                  <a:srgbClr val="EC003F"/>
                </a:solidFill>
              </a:rPr>
              <a:t>ids=[]</a:t>
            </a:r>
          </a:p>
          <a:p xmlns:a="http://schemas.openxmlformats.org/drawingml/2006/main">
            <a:pPr>
              <a:defRPr sz="1800" b="1">
                <a:solidFill>
                  <a:srgbClr val="EC003F"/>
                </a:solidFill>
              </a:defRPr>
            </a:pPr>
            <a:r>
              <a:rPr sz="1800" b="1">
                <a:solidFill>
                  <a:srgbClr val="EC003F"/>
                </a:solidFill>
              </a:rPr>
              <a:t>↓</a:t>
            </a:r>
          </a:p>
          <a:p xmlns:a="http://schemas.openxmlformats.org/drawingml/2006/main">
            <a:pPr>
              <a:defRPr sz="1800" b="1">
                <a:solidFill>
                  <a:srgbClr val="EC003F"/>
                </a:solidFill>
              </a:defRPr>
            </a:pPr>
            <a:r>
              <a:rPr sz="1800" b="1">
                <a:solidFill>
                  <a:srgbClr val="EC003F"/>
                </a:solidFill>
              </a:rPr>
              <a:t>check_all exit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F8924-0223-412F-AEB0-3DE99000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8958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A521B-4E9D-4720-9433-E34E199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9966"/>
                </a:solidFill>
              </a:defRPr>
            </a:pPr>
            <a:r>
              <a:rPr sz="1500" b="1">
                <a:solidFill>
                  <a:srgbClr val="009966"/>
                </a:solidFill>
              </a:rPr>
              <a:t>新路径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4558C-D91B-4962-ADC4-81B789FE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9966"/>
                </a:solidFill>
              </a:defRPr>
            </a:pPr>
            <a:r>
              <a:rPr sz="1800" b="1">
                <a:solidFill>
                  <a:srgbClr val="009966"/>
                </a:solidFill>
              </a:rPr>
              <a:t>动态 UTC fixture</a:t>
            </a:r>
          </a:p>
          <a:p xmlns:a="http://schemas.openxmlformats.org/drawingml/2006/main">
            <a:pPr>
              <a:defRPr sz="1800" b="1">
                <a:solidFill>
                  <a:srgbClr val="009966"/>
                </a:solidFill>
              </a:defRPr>
            </a:pPr>
            <a:r>
              <a:rPr sz="1800" b="1">
                <a:solidFill>
                  <a:srgbClr val="009966"/>
                </a:solidFill>
              </a:rPr>
              <a:t>+ retention 内事件</a:t>
            </a:r>
          </a:p>
          <a:p xmlns:a="http://schemas.openxmlformats.org/drawingml/2006/main">
            <a:pPr>
              <a:defRPr sz="1800" b="1">
                <a:solidFill>
                  <a:srgbClr val="009966"/>
                </a:solidFill>
              </a:defRPr>
            </a:pPr>
            <a:r>
              <a:rPr sz="1800" b="1">
                <a:solidFill>
                  <a:srgbClr val="009966"/>
                </a:solidFill>
              </a:rPr>
              <a:t>+ 边界事件</a:t>
            </a:r>
          </a:p>
          <a:p xmlns:a="http://schemas.openxmlformats.org/drawingml/2006/main">
            <a:pPr>
              <a:defRPr sz="1800" b="1">
                <a:solidFill>
                  <a:srgbClr val="009966"/>
                </a:solidFill>
              </a:defRPr>
            </a:pPr>
            <a:r>
              <a:rPr sz="1800" b="1">
                <a:solidFill>
                  <a:srgbClr val="009966"/>
                </a:solidFill>
              </a:rPr>
              <a:t>+ retention 外旧事件</a:t>
            </a:r>
          </a:p>
          <a:p xmlns:a="http://schemas.openxmlformats.org/drawingml/2006/main">
            <a:pPr>
              <a:defRPr sz="1800" b="1">
                <a:solidFill>
                  <a:srgbClr val="009966"/>
                </a:solidFill>
              </a:defRPr>
            </a:pPr>
            <a:r>
              <a:rPr sz="1800" b="1">
                <a:solidFill>
                  <a:srgbClr val="009966"/>
                </a:solidFill>
              </a:rPr>
              <a:t>↓</a:t>
            </a:r>
          </a:p>
          <a:p xmlns:a="http://schemas.openxmlformats.org/drawingml/2006/main">
            <a:pPr>
              <a:defRPr sz="1800" b="1">
                <a:solidFill>
                  <a:srgbClr val="009966"/>
                </a:solidFill>
              </a:defRPr>
            </a:pPr>
            <a:r>
              <a:rPr sz="1800" b="1">
                <a:solidFill>
                  <a:srgbClr val="009966"/>
                </a:solidFill>
              </a:rPr>
              <a:t>保留 / 清除 / 幂等断言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E4B99-D507-42C8-8DCE-F9DB16F6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47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083CE-DF68-4358-B341-6B21E602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7679D-2F01-4C4A-87CE-838AA16E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P0 已清除；没有通过把 retention 设为 0，也没有把空结果改成“通过”。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E2852-3C58-40B0-96C2-A88A76EC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0505A-C4A0-4C92-B97C-959E322B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E0203-39CD-4657-9EAF-A510B984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9917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F426F0-2192-4649-BDB6-1E469D7A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04 · P0 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6216B-9202-4C85-8316-6104BB9F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Retention 测试现在验证时间边界，而不是依赖机器日期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5C56A-791D-4FCF-9701-9D3E8D7A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回归覆盖新事件、边界事件、旧事件、顺序、source/id、幂等与 JSONL 完整性。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0436E-25D4-4C35-A675-4910CB18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90837-4EF3-4BEF-8FB9-E1EA68B2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Fixture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E8AF5-9757-4E42-A08C-92D1E742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7F412-9EDE-4024-B9B3-1FA7397F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38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相对 retention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B3AF0-91AF-4FE1-B243-F831EFDA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F78F1-62C3-4D9C-AF6E-00410F71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383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断言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1C5AD-BC77-48C3-8603-580685F3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AAEBF-E8F9-4C63-8AF7-6B0EDCE0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new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069E2-E97B-42B3-B7E4-12E3FF9B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DA1C1-570C-4AA7-851E-7D37AA4F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62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窗口内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005DC-D4C6-4579-83A2-A02134F5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C9D4B-F4BF-42DE-A2E6-641BAF85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compaction 后保留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5BF2A-F8CC-4D18-AF91-A0E5F2D9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AD689-37B0-4E4E-A8BB-04F2D199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23B3C-273A-437E-905B-20354B3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955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61C9A-3FAD-45F3-A9E1-22A3CE23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边界附近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C3C1A-E385-4923-A99B-6A2C3F48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71367-7208-49EA-895F-CAFB1845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241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保留且顺序不变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2575B-2C43-4A90-80F1-9D98D623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96974-09F2-4B72-92F4-C7EA2264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FAC72-AE96-4482-B782-D3147876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23804-3652-442D-8A3C-0D3EF447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860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窗口外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2A84F-4063-4B4F-ABA5-AC66BFAB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2F30AB-570D-46DC-8888-30CCF152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compaction 后清除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6CB9AD-6D36-41BB-98C3-79CB10FB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2A3EEE-BE43-430A-A041-7E363428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second 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650A0C-0788-44B5-9D32-F47E6EF0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194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CD3B5E-A006-400C-BBC3-15A4124A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480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重复 compaction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7EAD47-AA76-4AFF-9A0E-2CF1258C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551C05-B1E9-43E3-A5F8-5BB78F82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480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结果不变化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48A55B-FE1D-4EA3-B7CE-DDF9A671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FDEF10-B398-4559-A973-3AA2DF06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SMOKE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6CA5FF-F062-4831-8D73-2E7C8B9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PASS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20B4AB-E6C5-40E5-917F-17A37A4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768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smoke_reliability_m38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4F1D98-F869-41F4-89DF-788642EF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862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BBC8E9-37DA-4613-B3C7-E74D2BB6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38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BOUNDARY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4C96B3-B641-4F4D-A245-F46EE7D9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482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PASS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255BE2-8159-4A50-AACC-265BEF1B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768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time-boundary smoke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AA9301-ACC9-406C-AD54-E9F7F36F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862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96C509-C69F-4D88-BFE3-BCDDA3D5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38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FULL GATE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47AA6E-7A0A-4ED4-A651-24A9DDA3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482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3 / 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EC4388-FBDA-4056-9988-7B710AFD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768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final check_all runs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D4A382-6A2C-466C-B5B9-DBC639E8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862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E82918-EE80-4BEB-B4F3-99A1A22F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HARD 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D338BA-158A-4D05-9B6C-BA2A8209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482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CLEARED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D93B97-1108-4121-8B5B-5937199D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P0 no longer blocks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714862-31DD-4F55-915D-7ABDC01C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B8E5EC-A875-4377-B138-B90645A8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00C6EC-6F50-4424-96D1-0C49A97A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8939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FE00BD-68D1-4236-8836-29C9F215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05 · HOOK 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FBC9B-82B5-4792-A041-71018D0A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静默 worker 不再被误判 stale，但真实吞吐问题仍需人审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53570-458D-4D43-AD26-0B70BD89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语义层已经区分 idle / ok / stale；运行层在大负载后仍出现 heartbeat timeout。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D3846-B52D-46FD-BF1A-9D8ECA7B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14A19-56EC-4656-B208-18B8171B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EC618-D72E-4AED-8B1D-BAFB77DA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097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9F099-A645-4740-881B-20E9252D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383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必须满足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355E0-B779-44E1-8FF2-333E4800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4F18A-5795-4E1B-87EB-4CC66584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383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本轮结果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0A568-5730-4F17-8F99-5623F1B2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08719-5EE3-4219-9D56-613F8A08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D4BF4-DBC7-4594-B28B-1FAAD201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336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2B742-B189-4A6F-BBC1-C70C7192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621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进程、offset、health 正常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EB952-EE6E-44CA-960C-E2723A81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CF91B-6405-442D-ACA4-25247F5D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fixture timeline 12/12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42AC2-91AA-4940-BBC0-5D842C10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48715-1559-4948-8282-F28F83E8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idle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6CCC3-1F97-4F55-B795-88F566E4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8191E-ABB9-4C4B-80C4-91982D6B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241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无 pending，worker 安静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750CF-B3AA-46BA-B5D4-BBB39073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53008-91D8-4316-B742-BD6097DF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241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fixture accepted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8C0628-F78F-412F-A4FB-2CD4F685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CADF2-6B76-467D-972C-05AC6E28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stale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89344-AC01-461F-9145-8879ABEF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51832-3BD5-4D56-8668-DE5EB097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86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有 pending 且长期不推进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435A0-B547-4BF9-8563-E267545D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D13F30-D178-4ECD-B56C-8FC14343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deliberate fixture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5B12DD-3282-43C2-BB19-70FDB9D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91AC31-B900-4A29-9768-9DAD5A08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error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F5FB7-3F78-4215-8F44-9717E686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194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45051D-08BB-4D8E-A3E0-A80577C9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480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crash / unreadable / timeout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951582-6380-49B8-ADEF-5A7F52AC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DFF88C-12C1-4905-9F96-FA91D2F6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480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real runtime observed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B64B6B-BCED-4E88-99EE-1A3D5228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BFEA9D-3B1D-4069-A517-3F586797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FIXTURE TIMELINE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3F22B7-A6FD-4DB7-9916-DF3A2869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57.03s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6EEA30-8B07-4CB0-AE89-2232295B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720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12 samples · all ok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89F911-07F6-479A-8E10-31DAE7F1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8150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281A94-73D9-4CF9-8C1A-01136A13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339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REAL ONE-SHOT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4CDB13-336A-47B3-AB56-00E6B4E9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434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5DFC"/>
                </a:solidFill>
              </a:defRPr>
            </a:pPr>
            <a:r>
              <a:rPr sz="2100" b="1">
                <a:solidFill>
                  <a:srgbClr val="155DFC"/>
                </a:solidFill>
              </a:rPr>
              <a:t>47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583CFE-ADB3-4561-B501-96DB0875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720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signals processed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F16638-9DB2-4997-8F81-8FDBA4B6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8150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F4823C-C738-4D99-9505-CBE64F86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REAL RESIDUAL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6337BF-B283-489E-94B5-5975DCEE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434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C003F"/>
                </a:solidFill>
              </a:defRPr>
            </a:pPr>
            <a:r>
              <a:rPr sz="2100" b="1">
                <a:solidFill>
                  <a:srgbClr val="EC003F"/>
                </a:solidFill>
              </a:rPr>
              <a:t>10s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E71EF6-4C16-4091-9EC8-76F1DFB9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720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heartbeat timeout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DA54FA-23A3-4DF1-B1A6-D3B765A1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CD9662-71EF-4238-ABAA-5FC8E4CA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339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DECISION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73201C-EA13-4526-B71C-F95F23ED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434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17100"/>
                </a:solidFill>
              </a:defRPr>
            </a:pPr>
            <a:r>
              <a:rPr sz="2100" b="1">
                <a:solidFill>
                  <a:srgbClr val="E17100"/>
                </a:solidFill>
              </a:rPr>
              <a:t>HUMAN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896FD0-9372-4838-9602-803D73F6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7207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persistent runtime proof needed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C74E62-CFBD-4130-9D4B-BD076D2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275FE2-EC81-483D-8D89-E172E4AD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A3DA4A-0FD2-497C-AF37-1C3CFD58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8459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FB34CB-151C-4C11-87FE-816CD5EA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06 ·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E387B-3603-487B-A91E-2CD6C12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状态目录已经进入需要生命周期治理的规模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AC297-8A2B-4A13-939D-1708373B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治理默认 report-only；不删除真实任务、不归档 active/pending/open blocker。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341E0-F667-4EE1-BCA5-14C5FA65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5E5EA-3042-4D06-A6F6-2202EBE3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TASKS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31B50-1BEC-41C5-B9E6-71E3DD57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5DFC"/>
                </a:solidFill>
              </a:defRPr>
            </a:pPr>
            <a:r>
              <a:rPr sz="2100" b="1">
                <a:solidFill>
                  <a:srgbClr val="155DFC"/>
                </a:solidFill>
              </a:rPr>
              <a:t>10,477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772EB-A579-4544-BCDB-59E5BC5C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7.19 MB · scan 560.8ms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A196A-40DA-4B72-969B-B68363A4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1B684-2A8D-4D8C-A8DF-654F2B98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BINDINGS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828AB-9F97-411F-974A-DA5E4154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5DFC"/>
                </a:solidFill>
              </a:defRPr>
            </a:pPr>
            <a:r>
              <a:rPr sz="2100" b="1">
                <a:solidFill>
                  <a:srgbClr val="155DFC"/>
                </a:solidFill>
              </a:rPr>
              <a:t>2,794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C4D3E-B256-45A3-8E49-A86FC058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3.48 MB · scan 170.5ms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AF99C-0501-4DC0-8CFB-252A2F4A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D5851-174B-4DFB-AC8C-05946E9E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UI CLIENTS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884DC-6C22-41E3-A6F5-6B1C7B09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17100"/>
                </a:solidFill>
              </a:defRPr>
            </a:pPr>
            <a:r>
              <a:rPr sz="2100" b="1">
                <a:solidFill>
                  <a:srgbClr val="E17100"/>
                </a:solidFill>
              </a:rPr>
              <a:t>965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15A66-771E-44F6-8BFB-E703C591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0.51 MB · scan 43.0ms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1CE48-7398-4D0F-B6C4-0D6E3119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BF9B6-2DF8-4D82-892F-21B5E477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ARCHIVE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236F5-7381-4480-AFC2-1654F592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292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634DA-D768-435E-9C97-DB8DC0C4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report-only candidates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FB1FB-A5CB-4C40-A6F4-46894E5E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93A9D-97B8-4E4E-B924-B59A5B69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BEDDAC-B301-4DDE-B6CA-24B9E20F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CFBD1-B6BF-4C78-BEA1-6D638553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433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热目录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E5CEAB-F0E9-45AB-B8B3-6D87A7B1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147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20CAEC-2C58-452A-B7FB-9D4D17E0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433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6EE3E-3FC0-4693-A3ED-95F5655A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C4E7C-B5F8-47F0-BAC1-58E05C54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running / queued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EBE0C4-0F92-4BDC-9985-D39A1645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386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6E994-F825-4CD3-ADE1-2A3C3CEE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671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永不自动归档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C8DB91-22C1-41A4-A62B-2E7B5FE2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386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D45B4-6FCA-4B38-B6CD-23464B01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671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保护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C73FB-A2D1-464C-AD2A-08AFF26E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49F852-13CF-4CAB-9A9A-C4F409EB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blocked / stale / done_unverified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DBD0DB-0339-4D27-A94F-81B125BD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005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808983-F353-4C5C-949E-9DC96FC7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291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永不自动归档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26FEE9-A226-4847-9AFD-70290125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005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50FAB4-D538-4D1C-859B-1D2F8F88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29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保护并保留证据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5C013B-0C01-4A25-8DDC-34C98BFD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77FF94-DF61-4625-B9DF-35342319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done_verified / cancelled / released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E380CE-038E-4A4A-8BBC-1AB64D49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625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88243C-6F29-4BF8-A81A-AE6A06CE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910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30 天 / 2,000 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991B12-C316-498E-992A-7D8C2DD8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625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83DF67-1E49-4A46-8EF4-13F25E7F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910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显式 --apply 后原子移动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3FF725-F68C-481A-B0B0-4778DAAA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71389C-29E1-4EDE-B41D-162EBFA8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6B0C78-558A-404D-8C59-A9EC8D0D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6282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52E174-D126-4BB8-ACD4-91722844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07 · RENDER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14D65-B784-4D17-8A4C-3A49E2B1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全量历史长尾仍在，但新的 read-model 路径已经明显变轻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87CC9-8A81-4F8D-B2F9-34E6D10D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报告同时保留 all-time 与 rolling-window，避免用一次好看的均值掩盖长尾。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F95CF-CAFC-45CE-B2FF-E0657DBA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DB3D4-3359-4B56-8220-84488516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FULL P50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55547-3838-4EC1-B9BA-E2207F3C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5DFC"/>
                </a:solidFill>
              </a:defRPr>
            </a:pPr>
            <a:r>
              <a:rPr sz="2100" b="1">
                <a:solidFill>
                  <a:srgbClr val="155DFC"/>
                </a:solidFill>
              </a:rPr>
              <a:t>70.754ms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10C0A-F6A6-432B-BEE8-1FA8379E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896 retained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14AFB-5585-46A3-AEAB-735E76C8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25F30-215E-44CA-A0FB-EDECEC54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FULL P99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FE896-44A9-4AC4-9908-244414E1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C003F"/>
                </a:solidFill>
              </a:defRPr>
            </a:pPr>
            <a:r>
              <a:rPr sz="2100" b="1">
                <a:solidFill>
                  <a:srgbClr val="EC003F"/>
                </a:solidFill>
              </a:rPr>
              <a:t>562.001ms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4AC93-C21B-4B5B-9AA5-443191FB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&gt;500ms: 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264B5-70E4-46CE-AC99-B901833B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23113-48B6-4F0A-BDC6-A7E95461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RECENT P99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BAC97-1481-4E6B-B0BE-9EB2D5D2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17100"/>
                </a:solidFill>
              </a:defRPr>
            </a:pPr>
            <a:r>
              <a:rPr sz="2100" b="1">
                <a:solidFill>
                  <a:srgbClr val="E17100"/>
                </a:solidFill>
              </a:rPr>
              <a:t>233.577ms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FECA1-C367-4811-A6A9-8B0F00C0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last 100 · &gt;500: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1E350-892E-4861-AC99-F3A8F7A1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C53D4-3116-4C00-A702-D0DA2807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READ MODEL P95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00262-57BC-4A2C-A070-92020BF8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14.308ms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FCE9F-5473-428E-BBD2-C77C049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max 18.984ms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F3997-41D7-4BA9-A120-C550DECE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47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60326-468E-420F-B720-F0B69165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瓶颈定位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0C9CC-058E-4D66-BB4C-9EDB4D40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read_model_assembly     ███  p95 14.3ms</a:t>
            </a:r>
          </a:p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auxiliary_reads           █████████████████  p95 166.6ms</a:t>
            </a:r>
          </a:p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历史 outlier               保留，未删除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3F1C8E-F4A2-4A95-BFB1-95D937FC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7670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D16E0-00E5-42CE-9C74-5B3847D2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C003F"/>
                </a:solidFill>
              </a:defRPr>
            </a:pPr>
            <a:r>
              <a:rPr sz="975" b="1">
                <a:solidFill>
                  <a:srgbClr val="EC003F"/>
                </a:solidFill>
              </a:rPr>
              <a:t>不宣称 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95D72-FAD2-41C9-8799-D9F1EC80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67C62-2F28-4F79-BD9A-F96BB9E0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ACF6C-B01E-49CF-90FE-A0FBA8D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736564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27C62-F400-4CE7-9E7C-1A786710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08 · STATE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86150-A479-4700-B0F2-561606DD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核心状态保护规则继续通过，弱信号没有越权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4DB08-5F6B-41A0-A84C-B32E1480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本轮修复只改变读模型刷新成本，不改变主灯算法。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78133-7883-4E40-9E62-A69B7B56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563BC-2EEE-4803-961A-AFEDEDBE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A89A9-3DA0-41B0-BF99-345CE120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1E637-1FCF-4C7A-B35C-76F89CB6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430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预期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A081B-2FB4-4F5D-B8B5-D066E60A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5A8C3-4752-4C59-BFC1-79C05AA4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430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25D10-B2D7-4EA5-857F-67D3A187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F55C0-5742-488F-BEBE-B9A0465A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669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hook running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AEA9E-9B29-4131-9056-58FD34BA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3E0FB-3E68-42C4-9DDF-5207710C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669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RUNNING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78E83-43D0-462B-91D6-7A65B3BA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34256-0BBD-4F6D-84C1-2715D728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669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status reflection / bridge smokes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2A2DB-0CA6-4CF1-B9FD-6F12076D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ABA53E-AA3D-46CA-8DD2-D06396AB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process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03FAC-1C48-4252-AF1F-269E84C4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29ED0-7705-4116-8F86-677885F7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28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不 RUNNING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65E49-B778-48F6-8613-D4A5A7A3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4EFD6-D223-4FA4-9767-67303DAB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288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runtime arbiter guard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40980-41D7-4E73-9E6D-E81CB06F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0D237-13A3-487D-994E-1C35D7E5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permission request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2EDBB-7736-4178-9A5A-8E12285A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622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403860-4A1A-4ACC-8CB6-559B2EE0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908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BLOCKED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93D2B-5E8F-40F4-B98A-12D65146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622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13D88-487C-45D0-9B5A-DF7EBE55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908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status fixture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9BAF2F-7D86-4AEA-8160-9E56D9C7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574AF4-77AE-457B-A20C-66C27B73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stop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ADAA46-CC73-4981-9F83-BA8F3176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64C71-A5BD-449E-B154-742EF386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27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PENDING / done_unverified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FDFC7E-B0B8-4464-AB60-18301625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617944-39B0-48F4-84EC-37B71D3B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527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stop priority + verify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63E717-BCB6-4F7C-8C25-19193D14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733434-BFFC-4EA9-8AA5-FDF6E50B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verify only green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99F94F-7B03-48F3-93C7-C21162B9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38AFDD-0233-41F5-B934-026AC1FF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147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DONE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7CDB5C-E23F-4A54-BFF1-68C8724A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6565B4-1D5A-4D5D-BBCA-760B573F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14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verify 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11E281-6288-4DDD-B66E-FB086897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1B70AE-DC65-4FB8-9EAA-08DB5080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quota low/unknown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077241-C079-4D37-9FAE-132A5274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481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247AFF-4D24-455D-83AB-71E71730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只变 quota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09211E-3F68-4F5A-BCD4-E6099015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439F4D-0492-44F7-AEF8-58D39DE2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766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quota isolation checks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496DEF-B71C-456E-9FFA-6AB3B9E0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344032-7F24-42DA-9BA8-F683A960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old/multiple projector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1799EA-CF8E-4FA2-9551-66F87682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100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CACDD0-8365-4292-8FA5-E71A351A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38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必须诊断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61C92D-485A-4B4A-8DCF-22FFB850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8D1129-F793-4859-814F-D119D680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writer guard suite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C5D2D6-11D4-4DE8-ABE1-D8CECD66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FD0BFE-074D-406C-A9BD-F4F741A2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结论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C9F32D-FFF1-437D-BC09-8A017DD8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没有发现新的假绿灯、quota 改主灯或 Stop/verify 语义回归。真实 Bridge timeout 属于稳定性风险，不应被解释成状态算法通过。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DD3958-8EF4-4B00-89E9-B10A9283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66619C-3639-4395-94A1-0CEADC3D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29AA33-3E16-46DF-BA64-F96D98F5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10005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BE2D20-07FA-4EDC-9270-8F46CB85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09 · WORKSPACE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5EC42-9F99-4B45-B3B1-762C8249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核心 workspace 已覆盖，整体发现数仍需分层阅读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B9E7D-7AEB-419F-96E0-9082801B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preferred 与 active_recent 指标比全量扫描更接近真实产品风险。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B93DA-B64E-43F3-9487-C422DA68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C1023-8329-487B-BA6B-5956DD64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OVERALL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FEBDC-E75F-4896-8ECD-82F3B52B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5DFC"/>
                </a:solidFill>
              </a:defRPr>
            </a:pPr>
            <a:r>
              <a:rPr sz="2100" b="1">
                <a:solidFill>
                  <a:srgbClr val="155DFC"/>
                </a:solidFill>
              </a:rPr>
              <a:t>35 / 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63361-47C1-4512-86ED-58C9046C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trusted / discovered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22689-6016-4C55-A940-439DF464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33E9D-26D3-43A3-BCF8-7319AAE6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0BD63-8C69-46E6-9182-AAD814EB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17100"/>
                </a:solidFill>
              </a:defRPr>
            </a:pPr>
            <a:r>
              <a:rPr sz="2100" b="1">
                <a:solidFill>
                  <a:srgbClr val="E17100"/>
                </a:solidFill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1EC81-728D-435F-8DF0-D21C8107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overall missing hooks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25001-8DE0-43A9-9B16-3DCECB74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F445D-5202-4E88-ACE9-BCD614CF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PREFERRED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DD9F7-C174-4894-A42C-D92AFE45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7 / 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62356-0BD5-4ABE-8ED5-1CFA122A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trusted coverage 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7FDD4-CF67-4B55-BDEC-0B08F0AB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4705D-21AD-492F-BB20-2BB2981B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ACTIVE RECENT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901ED-24C9-4D2A-95F0-5E876FB2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3 /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EB98A-46CD-46C5-AFC5-88DF122A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trusted coverage 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AE280-B032-4681-BC38-00809636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FEFEA-75E3-4C4F-9ED1-065F39B3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层级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E057E-94DA-43EB-8BF6-16F65BE0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9A27F8-1A9B-4D6A-829A-FECA2EF5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433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当前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1ED9D-F481-410D-BFCA-1357C61C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E166EF-46AF-477E-BBB0-2B698094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433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6227D-59D6-412B-9465-3865558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B9688-56EE-49F0-9F83-0ED09C58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preferred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FAE9AF-22A8-4AA9-BE74-5A1A0FC9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3860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7C201-9DAB-4407-A809-09F7EF69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671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7 trusted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A9591C-2218-4EB6-A9AC-384FB4E4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386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52767-C4C7-46B7-BC12-F7397C15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671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核心目录，已闭合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852932-E6EB-42C5-894B-EC1B52E6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D6EF57-A2CC-454E-9559-B5910CCF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active_recent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7E27E7-736A-492D-99D6-DCE8ED5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005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0C7AC4-6D80-43BC-8E2B-82972183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291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3 trusted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E6FCE5-E37D-4105-BFEB-C98C7AC4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005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901FF8-9077-45EE-B211-9786C97F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291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近期有真实信号的目录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A3C37E-1927-4D05-A244-1B5B64BF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1F6ACB-18FD-4BDA-A756-B38ECAB4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optional / archived / temporary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D8D192-F2EE-4C8F-8322-507906D0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6250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8401E8-4F26-4248-ACDF-A40E48CE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910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未填充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26DA5F-AD86-46F8-A161-36F6E97F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DB75B9-2E23-44E4-B51C-B7F7F109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910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配置脚手架，不能提前宣称分层完成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2F7059-B9C9-4AB7-B011-8ABA3ABD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2F043E-BF3E-4C9F-8E5C-17EBC9F5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workspace discovery probe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B246D4-07C1-400A-8761-B50EC81F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244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183639-DE84-422C-BAE1-17A4FCE3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530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available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CB1922-0626-4CFD-B222-F1B6C25E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244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71FC97-0220-45F6-83A6-CF66EF59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530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目录发现证据可用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026930-F446-49D5-AEB8-73252770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D9BCBF-86E8-48AF-829D-8056543C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hooks trust probe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F6624D-3DA2-4848-86B5-7130812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8640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0F7156-3557-4F75-9D27-9C229420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14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unavailable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1A9EF9-B9D2-421D-A26E-584161F1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864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DAB164-C84D-46CA-9D5D-388133AA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149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未知不等于 trusted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2AAB81-13E6-4B23-B715-A49B65A2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C2A03C-18F1-461D-820F-82954B81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92F197-3E19-4243-9246-1FA1EFBE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0759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2A89D-A0FA-4454-8681-024A5236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10 · QUOTA &amp;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091BB-3C30-45FB-A709-A754776F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额度信息保持 display-only，安全边界没有被可靠性修复打穿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1A93B-BFFA-4F74-A92A-CCCFA777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低额度只改变 quota 文案与颜色，不参与 global_status / lamp_status。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447BC-38A3-4755-9632-AA956E0F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C540B-0CB7-4D1D-B1D1-699E0F22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QUOTA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F3759-A16B-455F-81A7-5547FFF8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5DFC"/>
                </a:solidFill>
              </a:defRPr>
            </a:pPr>
            <a:r>
              <a:rPr sz="2100" b="1">
                <a:solidFill>
                  <a:srgbClr val="155DFC"/>
                </a:solidFill>
              </a:rPr>
              <a:t>codex_appserver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F6970-91D2-4DC0-9D77-2BF089CF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fresh local 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B7B39-8450-4E0D-B4D6-B74B9302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83DF7-D30D-4547-A2C4-5493A346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QUOTA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30FF3-AE6E-4C10-B677-3FEEDEA8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17100"/>
                </a:solidFill>
              </a:defRPr>
            </a:pPr>
            <a:r>
              <a:rPr sz="2100" b="1">
                <a:solidFill>
                  <a:srgbClr val="E17100"/>
                </a:solidFill>
              </a:rPr>
              <a:t>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5A369-3979-4156-BA1B-096ADB10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display warning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9968F-D20B-42B5-A209-CA2CDED2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933B0-C10F-4145-BAA9-23F9EB3F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62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AUTH 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67947-91B8-4635-8D9A-FE68DB7E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357CA-873F-4324-9701-C72F78CC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not accessed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44191-FA0B-48BD-A893-17E3CE97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00429-27CC-4F27-9F1B-2F2B9140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EXTERNAL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0991A-95ED-49FB-880D-66DA033D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B7378-9F68-4DFA-9279-E0B5BECC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no network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3726C-31AD-4FC9-82A3-75B769DC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3213A-75B7-4345-8B77-2D64E3B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83794-5EB1-440F-8568-D37751FE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BFD90F-358D-4D2C-888A-C8CB4C98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43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本轮动作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75F31-590C-4E7D-B4FC-73DBE02E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A8EAD-F409-48C4-87A5-F03D3AE0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433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1589F-0E28-46F8-B584-53EA165F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FAC006-DC09-4AEC-8943-1ED3290F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auth / cookie / Keychain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C424A8-4E2B-48F4-AA50-8ED16D09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3860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C52F7F-D2FD-496C-A61D-F3BB4843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671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未读取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811284-908A-4A46-A422-668FF70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386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021EB-E84A-4607-AFA3-BA75FBB2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安全通过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799963-6164-4380-8971-E7ECD95A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C25DAA-3390-4CC6-8F36-23A83C2C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trust / purchase / reset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106530-D731-4772-81E4-FF6FEF9F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178DD3-6EF2-40C5-BC3C-F94445FE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29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未自动执行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833C0A-0FFE-44A1-AC85-C114DDB5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005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E37DCE-ADA8-422E-BE0A-7FD81011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29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安全通过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7C365F-8871-4406-9AA2-4F47D0BB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B99A81-2C5E-4A21-A788-9A764873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raw prompt / response / logs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BAA2C3-0E17-4A85-B7AE-813BE376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C1F4EB-E691-401A-A7A0-39FEBCB5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910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未进入报告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335168-D4F8-4D3D-BBF3-4F8D4567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625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7CD009-2361-4D15-8655-27DA1D9D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910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安全通过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9EEBE8-DCB5-47D8-BFEA-0C83F12C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0EC615-727F-4E99-B7AC-8F2EF369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commit / push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2267CA-A17D-4622-B96A-D8DE035E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38E526-9E40-461E-A635-2DF55FBE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530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未执行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4A7361-4450-4B21-BC01-C3E483A3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244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A33186-689D-46FB-8E86-E1E3AFB4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530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工作树保留供人工审阅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9226D2-DAB6-4533-8793-A1325210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6DB4DC-BD51-430C-9074-F9739FCE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157C6D-B647-4E70-9BD6-FCCFC760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644989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DDE4D8-C8C0-40D1-A911-84858BFD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11 · BUGS &amp;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23057-ED9A-4246-8CB7-EBBAD79F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问题已经从 P0 硬门禁降为可定位的 P1/P2 运行风险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C73E4-F5CD-4355-9B47-D3236A52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不粉饰：当前不能用一个绿色测试结果覆盖真实 LaunchAgent 的 timeout。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F35C9-33BD-4347-9D6A-C6C3B012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A38BE-242E-4B19-9591-CE013013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级别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D74C9-A491-4FD3-B5A4-AFE34E01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14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0C870-1872-4E9C-ACE9-29D2D448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43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381C6-B0B6-4D5C-A03A-36D69A90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145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5D804-866B-4504-A342-C8699D93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82437-4A8E-4B9E-9F69-AC6B17C8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A4251-0C96-4BAF-A860-38709EA5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430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52FC1-20D7-468C-A76A-FF62658D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C4DA3-6C2C-4C09-8D2D-10F40D9F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669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B30F7-091E-4071-B449-647855AA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383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73D26-F1C3-47DB-ADE6-8B3590E2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669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real Bridge heartbeat timeout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28E80-07C5-4CE9-A2DA-D53B60D9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383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C196A-06CA-43AB-AC51-5045A483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669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10s timeout / backlog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3283D-AE5F-40AC-A691-9437EB83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76C22-CFE9-4F88-8FF0-69487F87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669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stage telemetry + sustained 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40696-4803-4252-B2EB-5EC00057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18CB0-49B4-4E24-9F0C-3C6590A0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F451E-B251-49E3-AEFD-322C8CC6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003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F59E4-202C-4009-B817-99AC9CCF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288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auxiliary render 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EE2FA-91C7-4FA9-B1C8-921C964C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AC64CB-B1F7-4200-A8BA-B2659412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recent p99 233.6ms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B5960-BDE0-497C-A64D-324D058E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A9A148-8C1B-4CE0-867A-09985926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288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cache/bound auxiliary reads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E0CFF8-4C3E-42DC-9253-1AD1E5B1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E43AE9-1933-4A75-B9FF-9B2A8B10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E510CF-975C-48C1-B2F2-0D2C618F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622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260EB8-3C7B-4161-927D-52C474C5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908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duplicate observer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94A04F-C6F4-47A2-B38C-19404A3B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622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625DDC-093D-4D5A-8701-27BF39E5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908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11 → 1 cleanup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A3A544-EAF3-44E6-BFDF-76C39A5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12EB4D-D97A-4EFA-9B70-1EB67CCF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908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keep single-instance guard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3BC980-0377-4F79-9038-86EC3E30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8BBF82-D197-4E23-A74F-5E61F401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5E81E1-9CC3-4767-8EB5-1F8B9E5A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242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4BB497-4CFE-4A6C-8444-FA2A6BDD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527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trust probe unavailable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6E7746-9C5F-4FAC-BDA2-4B2D3FA4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242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D7DC5E-17C3-4933-B457-FE7C3239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527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probe unavailable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DD7CE4-5922-4347-9FF2-5C84FDEF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2420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0EB261-A3A8-447F-A290-8AE2F48B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527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human evidence path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7198F0-680D-4D02-B8F9-3FF35734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354C7F-FBC0-456C-A530-1DD9B3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62A531-F0B3-40FD-AB44-3E7B3145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86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BA162B-0D9A-47AC-94AD-063F0214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147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7 workspaces missing hooks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B85FC9-8F00-477C-A660-14CA5AB5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861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39DDA8-957A-44E9-8F4C-0C521E84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147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42 total / 35 trusted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EE7A7F-5DC0-4D6F-9C09-D73B170E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6A0D0C-7129-4B0C-845F-DC45D7C0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147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manual install + manual Trust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6292AA-5083-4C4A-8C62-571F38BC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020D3F-1705-4964-A0B0-B3EF146D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风险判断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4EF7A4-1EE0-432A-8744-32AC1FF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这些问题不构成新的假绿灯证据，但会影响稳定性和可解释性，因此最终结论保留 NEEDS_HUMAN_REVIEW。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BDA720-B4D0-44C3-BECC-F81EEFC0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10C9FD-05FB-4A08-A41A-ADB5BAFD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9953AC-B7D1-4C85-8414-344192F1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78824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D8B2A9-1575-4FE5-80E7-EC082740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12 ·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9B08C-C934-426D-A3EB-A8011910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MVP P0 已恢复，但本轮不直接宣布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162C0-6234-4AFD-A51A-060FFDDD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证据足以进入受控验证，不足以把当前运行态称为 production-ready。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80E0D-5442-48F4-B8BB-4657F970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601F0-6922-45AB-BA87-80444367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A35FB-A39C-470C-8CF7-EB3E25A5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17100"/>
                </a:solidFill>
              </a:defRPr>
            </a:pPr>
            <a:r>
              <a:rPr sz="2100" b="1">
                <a:solidFill>
                  <a:srgbClr val="E17100"/>
                </a:solidFill>
              </a:rPr>
              <a:t>NEEDS_HUMAN_REVIEW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C8468-D280-4A3A-AC35-BEDB2A26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real runtime evidence 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B712B-446D-4544-BFFD-905AB8A2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CCF4A-264A-4FC4-BEA3-76F12AF2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EA5D0-A5CD-4B5C-8703-B66EEED5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5DFC"/>
                </a:solidFill>
              </a:defRPr>
            </a:pPr>
            <a:r>
              <a:rPr sz="2100" b="1">
                <a:solidFill>
                  <a:srgbClr val="155DFC"/>
                </a:solidFill>
              </a:rPr>
              <a:t>90 /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5EC14-D2D2-4204-9EC4-FC9F9083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hard gate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098A9-4AF4-496C-AFA2-679504CE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F50C0-9284-4455-AD66-EFB7B264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3-DAY TRIAL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8FDBD-C86A-40D1-A2F3-2E57F964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966"/>
                </a:solidFill>
              </a:defRPr>
            </a:pPr>
            <a:r>
              <a:rPr sz="2100" b="1">
                <a:solidFill>
                  <a:srgbClr val="009966"/>
                </a:solidFill>
              </a:rPr>
              <a:t>PREFLIGHT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8FB3D-871A-450C-867B-B217B4AD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human approval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49211-9FA9-4AA7-A53E-1142F618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476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C9455-6615-4968-BF76-3D427048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PRODUCTION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0404C-2FEC-4E7E-89F6-23311900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C003F"/>
                </a:solidFill>
              </a:defRPr>
            </a:pPr>
            <a:r>
              <a:rPr sz="2100" b="1">
                <a:solidFill>
                  <a:srgbClr val="EC003F"/>
                </a:solidFill>
              </a:rPr>
              <a:t>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8F487-10DC-4E46-BDD7-D02A57FD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0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not yet recommended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621AC-4E89-4775-9735-5788A0D3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2E8F0"/>
                </a:solidFill>
              </a:defRPr>
            </a:pPr>
            <a:r>
              <a:rPr sz="1500" b="1">
                <a:solidFill>
                  <a:srgbClr val="E2E8F0"/>
                </a:solidFill>
              </a:rPr>
              <a:t>可以做什么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C10BE-DCD8-409E-8A69-79B74963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先完成人工批准的 30 分钟 Preflight，再开始 3 天计时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Bridge：单实例、无 timeout、pending burst 后回到 0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Render：新样本 &gt;500ms = 0；异常即停止，不进入试运行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96FEF-D4EE-4282-A2B0-91E03B4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952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56B13-6F80-4DDB-AEE9-9356BC44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17100"/>
                </a:solidFill>
              </a:defRPr>
            </a:pPr>
            <a:r>
              <a:rPr sz="975" b="1">
                <a:solidFill>
                  <a:srgbClr val="E17100"/>
                </a:solidFill>
              </a:rPr>
              <a:t>TRIAL_READY_PENDING_HUMAN_PREFLIGHT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0BEDE4-19C3-46EF-BE0E-A9AFFD36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0A1B9"/>
                </a:solidFill>
              </a:defRPr>
            </a:pPr>
            <a:r>
              <a:rPr sz="1125" b="0">
                <a:solidFill>
                  <a:srgbClr val="90A1B9"/>
                </a:solidFill>
              </a:rPr>
              <a:t>Final decision is evidence-bounded, not score-only.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1BA84F-AE96-4AB1-A9BD-F2C68231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489635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B58AB5-D3E9-4C57-A591-DB752328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13 · NEXT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9D627-D8C0-40E7-9ECB-B709C304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下一步先收运行态，再谈新功能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48EC8-C6BE-41D6-A8C3-50DADB92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把剩余风险变成可观测、可复现、可关闭的工程项。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6FA4C-764C-42E9-AD6B-3B354073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5860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FF1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78781-1E0B-4B0D-A0B3-B9B224F8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3955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C003F"/>
                </a:solidFill>
              </a:defRPr>
            </a:pPr>
            <a:r>
              <a:rPr sz="1425" b="1">
                <a:solidFill>
                  <a:srgbClr val="EC003F"/>
                </a:solidFill>
              </a:rPr>
              <a:t>1. Preflight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C9F47-E334-406F-B565-D44626FD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3955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EC003F"/>
                </a:solidFill>
              </a:defRPr>
            </a:pPr>
            <a:r>
              <a:rPr sz="975" b="0">
                <a:solidFill>
                  <a:srgbClr val="EC003F"/>
                </a:solidFill>
              </a:rPr>
              <a:t>人工批准 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EC7F5-F663-4D94-AB08-1080172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23336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556C"/>
                </a:solidFill>
              </a:defRPr>
            </a:pPr>
            <a:r>
              <a:rPr sz="1650" b="1">
                <a:solidFill>
                  <a:srgbClr val="45556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4C366-EF36-43D8-AD28-241111A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095500"/>
            <a:ext cx="25860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FB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CAB86-D75F-417E-8255-7B99056B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209800"/>
            <a:ext cx="23955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17100"/>
                </a:solidFill>
              </a:defRPr>
            </a:pPr>
            <a:r>
              <a:rPr sz="1425" b="1">
                <a:solidFill>
                  <a:srgbClr val="E17100"/>
                </a:solidFill>
              </a:rPr>
              <a:t>2. Render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910F2-0A03-4CFE-99AD-74DA41D3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533650"/>
            <a:ext cx="23955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E17100"/>
                </a:solidFill>
              </a:defRPr>
            </a:pPr>
            <a:r>
              <a:rPr sz="975" b="0">
                <a:solidFill>
                  <a:srgbClr val="E17100"/>
                </a:solidFill>
              </a:rPr>
              <a:t>recent p99 &lt;160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1DE09-C49C-41C1-B2F7-DB657EC5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336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556C"/>
                </a:solidFill>
              </a:defRPr>
            </a:pPr>
            <a:r>
              <a:rPr sz="1650" b="1">
                <a:solidFill>
                  <a:srgbClr val="45556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F6A2F-FAA3-42F9-9D1A-7B4E7F9C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95500"/>
            <a:ext cx="25860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D7885-9C4F-4521-8AC7-4A845B93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9800"/>
            <a:ext cx="23955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5DFC"/>
                </a:solidFill>
              </a:defRPr>
            </a:pPr>
            <a:r>
              <a:rPr sz="1425" b="1">
                <a:solidFill>
                  <a:srgbClr val="155DFC"/>
                </a:solidFill>
              </a:rPr>
              <a:t>3.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87941-5736-4866-838C-7C7DFB26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33650"/>
            <a:ext cx="23955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5DFC"/>
                </a:solidFill>
              </a:defRPr>
            </a:pPr>
            <a:r>
              <a:rPr sz="975" b="0">
                <a:solidFill>
                  <a:srgbClr val="155DFC"/>
                </a:solidFill>
              </a:rPr>
              <a:t>human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5BA6D-E85D-42A7-A5B2-20661671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23336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556C"/>
                </a:solidFill>
              </a:defRPr>
            </a:pPr>
            <a:r>
              <a:rPr sz="1650" b="1">
                <a:solidFill>
                  <a:srgbClr val="45556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0F38D-E6A5-49B1-9077-7C972A22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2095500"/>
            <a:ext cx="25860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3D558-E855-421C-BB76-994EEAA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2209800"/>
            <a:ext cx="23955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9966"/>
                </a:solidFill>
              </a:defRPr>
            </a:pPr>
            <a:r>
              <a:rPr sz="1425" b="1">
                <a:solidFill>
                  <a:srgbClr val="009966"/>
                </a:solidFill>
              </a:rPr>
              <a:t>4. Re-audit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30344-ED9C-43F7-8963-4C1BA1F2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2533650"/>
            <a:ext cx="23955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09966"/>
                </a:solidFill>
              </a:defRPr>
            </a:pPr>
            <a:r>
              <a:rPr sz="975" b="0">
                <a:solidFill>
                  <a:srgbClr val="009966"/>
                </a:solidFill>
              </a:rPr>
              <a:t>fresh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CE9E0-2EAA-4BC0-B620-9419EB1F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0CE61-C46D-4190-AE84-0CBE37CF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优先级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94D06-2279-48DF-BCC7-B183A84A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82F87-E902-4253-9283-473403B3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480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4DAF3-5CC0-45CE-B67A-FE7FABEE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7EA2A-1AA8-49BF-8C28-133B9212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48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完成判据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1A907-2D65-45E8-8744-8C452CC3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BDC35C-BF1C-499A-881F-A11F4D85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19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5B3CD4-CFEB-4788-B95D-23831BF5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433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4074F1-AAE2-4D16-A484-6B184C71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71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Bridge stage timeline + single observer guard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4B7E3C-2EF6-4D98-BB93-7E44067D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CD64E7-01EB-40A7-A4FC-635215EA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7192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30 min 无 timeout，pending 只在注入时出现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74111-8264-4AE9-B3EB-7123DBE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E22C51-F76B-44D4-93BA-0923C290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6F87B3-A94E-4E1C-8686-7F62894F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0530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08F9F1-0C95-41BD-98C1-A475E54F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33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auxiliary reads 分层缓存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C01FAC-9C47-4D78-BE5F-DB38B734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FF4BAF-F77D-45C2-8296-4809E8CB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338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最近窗口 p99 &lt;160ms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F0365F-1AE7-4277-9B3C-1AD0253B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100AB0-9895-4A05-AEFE-B35BC775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6D05AF-C9AB-47D8-B67C-9EDD1C8B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672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2947AF-DFED-4249-A21A-7C4C749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958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补 active workspace hooks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F81953-3F6E-4803-A3E8-18444E3E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6725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6B7EA9-118E-44CA-831D-BC13A811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9582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preferred/active_recent 仍可解释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F46916-C8DE-41A8-A45A-4BDE90F7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00D48F-0087-450D-A028-1FD35135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577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Release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A8D178-3E67-4158-9AD7-3DEDF3D2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2920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349F16-4885-432E-A076-C1652E76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577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重跑 Auditor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F35C44-46E1-48E8-89AD-D779876F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2920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38E98A-F16E-4D93-8738-F07A1DCA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577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check_all 3/3 + PPT + 人工 UI 复核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A4B816-2488-40BB-ADF1-004337F0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9F723C-6DA3-4916-977A-19363A9F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收口原则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1B8BA8-F26F-40C3-A0A3-D2B3611C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20618"/>
                </a:solidFill>
              </a:defRPr>
            </a:pPr>
            <a:r>
              <a:rPr sz="1050" b="0">
                <a:solidFill>
                  <a:srgbClr val="020618"/>
                </a:solidFill>
              </a:rPr>
              <a:t>不通过删除历史日志、降低 hard gate 或把 NEEDS_HUMAN_REVIEW 改写成 PASS 来收口。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E7476D-39E9-4DD1-BFD8-229BD47F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32D1DB-3FF0-4BA9-8CE0-462EF223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66TaskLight M7.1 · Reliability Closure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1B91BE-2268-4679-A2E7-6E5D4811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5556C"/>
                </a:solidFill>
              </a:defRPr>
            </a:pPr>
            <a:r>
              <a:rPr sz="975" b="1">
                <a:solidFill>
                  <a:srgbClr val="45556C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7799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2026-07-13T00:46:13.2750000Z</dcterms:created>
  <dcterms:modified xsi:type="dcterms:W3CDTF">2026-07-13T00:46:13.2750000Z</dcterms:modified>
</coreProperties>
</file>